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9" r:id="rId2"/>
    <p:sldId id="270" r:id="rId3"/>
    <p:sldId id="271" r:id="rId4"/>
    <p:sldId id="272" r:id="rId5"/>
    <p:sldId id="273" r:id="rId6"/>
    <p:sldId id="27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5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DB2"/>
          </a:solidFill>
          <a:ln w="12700">
            <a:solidFill>
              <a:srgbClr val="2F6DB2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1423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DB2"/>
          </a:solidFill>
          <a:ln w="12700">
            <a:solidFill>
              <a:srgbClr val="2F6DB2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10896"/>
            <a:ext cx="10927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4235B"/>
                </a:solidFill>
                <a:latin typeface="Aptos Display"/>
              </a:rPr>
              <a:t>From Engineering Foundation to Agentic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13816"/>
            <a:ext cx="658368" cy="36576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9888" y="676656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i="0">
                <a:solidFill>
                  <a:srgbClr val="64748B"/>
                </a:solidFill>
                <a:latin typeface="Aptos"/>
              </a:rPr>
              <a:t>The standards introduced during 2025 and 2026 provide the structure, knowledge and controls required to introduce agents responsibly.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280160"/>
            <a:ext cx="1508760" cy="256032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54C80"/>
                </a:solidFill>
                <a:latin typeface="Aptos"/>
              </a:rPr>
              <a:t>2025–2026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47504" y="1280160"/>
            <a:ext cx="1325880" cy="256032"/>
          </a:xfrm>
          <a:prstGeom prst="roundRect">
            <a:avLst/>
          </a:prstGeom>
          <a:solidFill>
            <a:srgbClr val="14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47504" y="12801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2027 DIRECTION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16152" y="2852928"/>
            <a:ext cx="9418320" cy="0"/>
          </a:xfrm>
          <a:prstGeom prst="line">
            <a:avLst/>
          </a:prstGeom>
          <a:ln w="25400">
            <a:solidFill>
              <a:srgbClr val="8FB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17647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F6DB2"/>
                </a:solidFill>
                <a:latin typeface="Aptos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937442" y="2464490"/>
            <a:ext cx="776874" cy="77687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3241" y="2615549"/>
            <a:ext cx="345277" cy="463966"/>
          </a:xfrm>
          <a:prstGeom prst="rect">
            <a:avLst/>
          </a:prstGeom>
          <a:solidFill>
            <a:srgbClr val="FFFFFF"/>
          </a:solidFill>
          <a:ln w="1524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7980" y="2745028"/>
            <a:ext cx="215798" cy="19421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7980" y="2852928"/>
            <a:ext cx="215798" cy="19421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7980" y="2960827"/>
            <a:ext cx="215798" cy="19421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" y="3474720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SOPs &amp;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" y="400507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Common development, testing and repository practices.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17647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F6DB2"/>
                </a:solidFill>
                <a:latin typeface="Aptos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3205154" y="2464490"/>
            <a:ext cx="776874" cy="776874"/>
          </a:xfrm>
          <a:prstGeom prst="ellipse">
            <a:avLst/>
          </a:prstGeom>
          <a:solidFill>
            <a:srgbClr val="E3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3464112" y="2701869"/>
            <a:ext cx="0" cy="312907"/>
          </a:xfrm>
          <a:prstGeom prst="line">
            <a:avLst/>
          </a:prstGeom>
          <a:ln w="19050">
            <a:solidFill>
              <a:srgbClr val="2F6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64112" y="2701869"/>
            <a:ext cx="280538" cy="151059"/>
          </a:xfrm>
          <a:prstGeom prst="line">
            <a:avLst/>
          </a:prstGeom>
          <a:ln w="19050">
            <a:solidFill>
              <a:srgbClr val="2F6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415558" y="2987802"/>
            <a:ext cx="97109" cy="9710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15558" y="2631734"/>
            <a:ext cx="97109" cy="9710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717676" y="2631734"/>
            <a:ext cx="97109" cy="9710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3474720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0507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Version-controlled repositories and traceable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4" y="17647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F6DB2"/>
                </a:solidFill>
                <a:latin typeface="Aptos"/>
              </a:rPr>
              <a:t>03</a:t>
            </a:r>
          </a:p>
        </p:txBody>
      </p:sp>
      <p:sp>
        <p:nvSpPr>
          <p:cNvPr id="28" name="Oval 27"/>
          <p:cNvSpPr/>
          <p:nvPr/>
        </p:nvSpPr>
        <p:spPr>
          <a:xfrm>
            <a:off x="5472866" y="2464490"/>
            <a:ext cx="776874" cy="776874"/>
          </a:xfrm>
          <a:prstGeom prst="ellipse">
            <a:avLst/>
          </a:prstGeom>
          <a:solidFill>
            <a:srgbClr val="D6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699455" y="2723448"/>
            <a:ext cx="140268" cy="1402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882883" y="2723448"/>
            <a:ext cx="140268" cy="1402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91169" y="2906877"/>
            <a:ext cx="140268" cy="1402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0912" y="3474720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Frameworks &amp; Libraries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400507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Approved patterns and reusable technical assets.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4696" y="17647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F6DB2"/>
                </a:solidFill>
                <a:latin typeface="Aptos"/>
              </a:rPr>
              <a:t>04</a:t>
            </a:r>
          </a:p>
        </p:txBody>
      </p:sp>
      <p:sp>
        <p:nvSpPr>
          <p:cNvPr id="35" name="Oval 34"/>
          <p:cNvSpPr/>
          <p:nvPr/>
        </p:nvSpPr>
        <p:spPr>
          <a:xfrm>
            <a:off x="7740578" y="2464490"/>
            <a:ext cx="776874" cy="776874"/>
          </a:xfrm>
          <a:prstGeom prst="ellipse">
            <a:avLst/>
          </a:prstGeom>
          <a:solidFill>
            <a:srgbClr val="C4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n 35"/>
          <p:cNvSpPr/>
          <p:nvPr/>
        </p:nvSpPr>
        <p:spPr>
          <a:xfrm>
            <a:off x="7956377" y="2658709"/>
            <a:ext cx="345277" cy="388437"/>
          </a:xfrm>
          <a:prstGeom prst="can">
            <a:avLst/>
          </a:prstGeom>
          <a:solidFill>
            <a:srgbClr val="FFFFFF"/>
          </a:solidFill>
          <a:ln w="15240">
            <a:solidFill>
              <a:srgbClr val="25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78624" y="3474720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APIs &amp; Structured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624" y="400507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More stable integrations and accessible process data.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2407" y="17647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235B"/>
                </a:solidFill>
                <a:latin typeface="Aptos"/>
              </a:rPr>
              <a:t>05</a:t>
            </a:r>
          </a:p>
        </p:txBody>
      </p:sp>
      <p:sp>
        <p:nvSpPr>
          <p:cNvPr id="40" name="Oval 39"/>
          <p:cNvSpPr/>
          <p:nvPr/>
        </p:nvSpPr>
        <p:spPr>
          <a:xfrm>
            <a:off x="10008290" y="2464490"/>
            <a:ext cx="776874" cy="776874"/>
          </a:xfrm>
          <a:prstGeom prst="ellipse">
            <a:avLst/>
          </a:prstGeom>
          <a:solidFill>
            <a:srgbClr val="14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326593" y="2782793"/>
            <a:ext cx="140268" cy="1402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 flipV="1">
            <a:off x="10396728" y="2637129"/>
            <a:ext cx="0" cy="215799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0358963" y="2599364"/>
            <a:ext cx="75529" cy="755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 flipV="1">
            <a:off x="10396728" y="2777398"/>
            <a:ext cx="205008" cy="7553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563971" y="2739633"/>
            <a:ext cx="75529" cy="755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10396728" y="2852928"/>
            <a:ext cx="129479" cy="1834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0488442" y="2998591"/>
            <a:ext cx="75529" cy="755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 flipH="1">
            <a:off x="10267248" y="2852928"/>
            <a:ext cx="129480" cy="1834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0229484" y="2998591"/>
            <a:ext cx="75529" cy="755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10191719" y="2777398"/>
            <a:ext cx="205009" cy="7553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0153954" y="2739633"/>
            <a:ext cx="75529" cy="755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46336" y="3474720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Agentic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46336" y="400507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Agents guided by approved knowledge, tools and controls.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" y="5422392"/>
            <a:ext cx="10442448" cy="475488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43000" y="5513832"/>
            <a:ext cx="98938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1" i="0">
                <a:solidFill>
                  <a:srgbClr val="14235B"/>
                </a:solidFill>
                <a:latin typeface="Aptos"/>
              </a:rPr>
              <a:t>These foundations give agents reliable instructions, approved assets and traceable working boundaries.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10896"/>
            <a:ext cx="10927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solidFill>
                  <a:srgbClr val="14235B"/>
                </a:solidFill>
                <a:latin typeface="Aptos Display"/>
              </a:rPr>
              <a:t>Agentic Automation — 2027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13816"/>
            <a:ext cx="658368" cy="36576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9888" y="676656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i="0">
                <a:solidFill>
                  <a:srgbClr val="64748B"/>
                </a:solidFill>
                <a:latin typeface="Aptos"/>
              </a:rPr>
              <a:t>The initial focus is on practical use cases that support delivery, preserve knowledge and improve technical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26464"/>
            <a:ext cx="2971800" cy="4178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6824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6DB2"/>
                </a:solidFill>
                <a:latin typeface="Aptos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1851660" y="1874519"/>
            <a:ext cx="822959" cy="822959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80260" y="2034540"/>
            <a:ext cx="365760" cy="491490"/>
          </a:xfrm>
          <a:prstGeom prst="rect">
            <a:avLst/>
          </a:prstGeom>
          <a:solidFill>
            <a:srgbClr val="FFFFFF"/>
          </a:solidFill>
          <a:ln w="1524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48840" y="2171700"/>
            <a:ext cx="228600" cy="2057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48840" y="2286000"/>
            <a:ext cx="228600" cy="2057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48840" y="2400300"/>
            <a:ext cx="228600" cy="2057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" y="2944368"/>
            <a:ext cx="235000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0" b="1" i="0">
                <a:solidFill>
                  <a:srgbClr val="14235B"/>
                </a:solidFill>
                <a:latin typeface="Aptos"/>
              </a:rPr>
              <a:t>Process Documentation &amp;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7048" y="3639312"/>
            <a:ext cx="1472184" cy="256032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27048" y="3639312"/>
            <a:ext cx="1472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0" b="1" i="0">
                <a:solidFill>
                  <a:srgbClr val="254C80"/>
                </a:solidFill>
                <a:latin typeface="Aptos"/>
              </a:rPr>
              <a:t>DOCUMAKERAI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096512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 i="0">
                <a:solidFill>
                  <a:srgbClr val="1E2A3A"/>
                </a:solidFill>
                <a:latin typeface="Aptos"/>
              </a:rPr>
              <a:t>Structure requirements artefacts, generate PDD drafts and preserve process knowledge for future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426464"/>
            <a:ext cx="2971800" cy="4178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16824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6DB2"/>
                </a:solidFill>
                <a:latin typeface="Aptos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5234940" y="1874519"/>
            <a:ext cx="822959" cy="822959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26380" y="21031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50" b="1" i="0">
                <a:solidFill>
                  <a:srgbClr val="2F6DB2"/>
                </a:solidFill>
                <a:latin typeface="Aptos"/>
              </a:rPr>
              <a:t>&lt;/&gt;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944368"/>
            <a:ext cx="235000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0" b="1" i="0">
                <a:solidFill>
                  <a:srgbClr val="14235B"/>
                </a:solidFill>
                <a:latin typeface="Aptos"/>
              </a:rPr>
              <a:t>Development &amp; Quality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10328" y="3639312"/>
            <a:ext cx="1472184" cy="256032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10328" y="3639312"/>
            <a:ext cx="1472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0" b="1" i="0">
                <a:solidFill>
                  <a:srgbClr val="254C80"/>
                </a:solidFill>
                <a:latin typeface="Aptos"/>
              </a:rPr>
              <a:t>2027 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096512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 i="0" dirty="0">
                <a:solidFill>
                  <a:srgbClr val="1E2A3A"/>
                </a:solidFill>
                <a:latin typeface="Aptos"/>
              </a:rPr>
              <a:t>Use approved PDDs, SOPs, frameworks and libraries to assist implementation, testing and technical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426464"/>
            <a:ext cx="2971800" cy="4178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9831" y="16824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6DB2"/>
                </a:solidFill>
                <a:latin typeface="Aptos"/>
              </a:rPr>
              <a:t>03</a:t>
            </a:r>
          </a:p>
        </p:txBody>
      </p:sp>
      <p:sp>
        <p:nvSpPr>
          <p:cNvPr id="26" name="Oval 25"/>
          <p:cNvSpPr/>
          <p:nvPr/>
        </p:nvSpPr>
        <p:spPr>
          <a:xfrm>
            <a:off x="8618220" y="1874519"/>
            <a:ext cx="822959" cy="822959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01100" y="2103120"/>
            <a:ext cx="354330" cy="2514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49690" y="2366010"/>
            <a:ext cx="57150" cy="102869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92540" y="2457450"/>
            <a:ext cx="182880" cy="28575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075420" y="2023110"/>
            <a:ext cx="228600" cy="171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5420" y="2017394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2" b="1" i="0">
                <a:solidFill>
                  <a:srgbClr val="2F6DB2"/>
                </a:solidFill>
                <a:latin typeface="Aptos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4696" y="2944368"/>
            <a:ext cx="235000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0" b="1" i="0">
                <a:solidFill>
                  <a:srgbClr val="14235B"/>
                </a:solidFill>
                <a:latin typeface="Aptos"/>
              </a:rPr>
              <a:t>Operations &amp;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93608" y="3639312"/>
            <a:ext cx="1472184" cy="256032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93608" y="3639312"/>
            <a:ext cx="1472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0" b="1" i="0">
                <a:solidFill>
                  <a:srgbClr val="254C80"/>
                </a:solidFill>
                <a:latin typeface="Aptos"/>
              </a:rPr>
              <a:t>CITRIFIX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2" y="4096512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 i="0">
                <a:solidFill>
                  <a:srgbClr val="1E2A3A"/>
                </a:solidFill>
                <a:latin typeface="Aptos"/>
              </a:rPr>
              <a:t>Provide guided troubleshooting and faster access to approved support knowledge for recurring VDI issues.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742432"/>
            <a:ext cx="10442448" cy="384048"/>
          </a:xfrm>
          <a:prstGeom prst="roundRect">
            <a:avLst/>
          </a:prstGeom>
          <a:solidFill>
            <a:srgbClr val="14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5788152"/>
            <a:ext cx="10076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Aptos"/>
              </a:rPr>
              <a:t>Agents assist accountable roles; validation, approval and production decisions remain with the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10896"/>
            <a:ext cx="10927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4235B"/>
                </a:solidFill>
                <a:latin typeface="Aptos Display"/>
              </a:rPr>
              <a:t>DocuMakerAI — PDD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13816"/>
            <a:ext cx="658368" cy="36576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9888" y="676656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i="0">
                <a:solidFill>
                  <a:srgbClr val="64748B"/>
                </a:solidFill>
                <a:latin typeface="Aptos"/>
              </a:rPr>
              <a:t>DocuMakerAI converts dispersed process artefacts into a structured PDD draft that is iteratively reviewed and refined by the Business Analyst.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1143000"/>
            <a:ext cx="1874519" cy="256032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114300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 i="0">
                <a:solidFill>
                  <a:srgbClr val="254C80"/>
                </a:solidFill>
                <a:latin typeface="Aptos"/>
              </a:rPr>
              <a:t>CLIENT DEMONSTRATION 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2304288" cy="3017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26463" y="1856232"/>
            <a:ext cx="822959" cy="822959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55063" y="2016252"/>
            <a:ext cx="365760" cy="491490"/>
          </a:xfrm>
          <a:prstGeom prst="rect">
            <a:avLst/>
          </a:prstGeom>
          <a:solidFill>
            <a:srgbClr val="FFFFFF"/>
          </a:solidFill>
          <a:ln w="1524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23643" y="2153412"/>
            <a:ext cx="228600" cy="2057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23643" y="2267712"/>
            <a:ext cx="228600" cy="2057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23643" y="2382012"/>
            <a:ext cx="228600" cy="2057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235B"/>
                </a:solidFill>
                <a:latin typeface="Aptos"/>
              </a:rPr>
              <a:t>Process knowledge artefacts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84448"/>
            <a:ext cx="804672" cy="256032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584448"/>
            <a:ext cx="804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70" b="1" i="0">
                <a:solidFill>
                  <a:srgbClr val="254C80"/>
                </a:solidFill>
                <a:latin typeface="Aptos"/>
              </a:rPr>
              <a:t>PDFs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56232" y="3584448"/>
            <a:ext cx="804672" cy="256032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56232" y="3584448"/>
            <a:ext cx="804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70" b="1" i="0">
                <a:solidFill>
                  <a:srgbClr val="254C80"/>
                </a:solidFill>
                <a:latin typeface="Aptos"/>
              </a:rPr>
              <a:t>Emails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986784"/>
            <a:ext cx="877824" cy="256032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986784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70" b="1" i="0">
                <a:solidFill>
                  <a:srgbClr val="254C80"/>
                </a:solidFill>
                <a:latin typeface="Aptos"/>
              </a:rPr>
              <a:t>Spreadsheets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56232" y="3986784"/>
            <a:ext cx="877824" cy="256032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56232" y="3986784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70" b="1" i="0">
                <a:solidFill>
                  <a:srgbClr val="254C80"/>
                </a:solidFill>
                <a:latin typeface="Aptos"/>
              </a:rPr>
              <a:t>Transcripts &amp; notes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1572768"/>
            <a:ext cx="2304288" cy="3017520"/>
          </a:xfrm>
          <a:prstGeom prst="roundRect">
            <a:avLst/>
          </a:prstGeom>
          <a:solidFill>
            <a:srgbClr val="14235B"/>
          </a:solidFill>
          <a:ln w="10160">
            <a:solidFill>
              <a:srgbClr val="142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986783" y="1856232"/>
            <a:ext cx="822959" cy="822959"/>
          </a:xfrm>
          <a:prstGeom prst="ellipse">
            <a:avLst/>
          </a:prstGeom>
          <a:solidFill>
            <a:srgbClr val="254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23969" y="2193417"/>
            <a:ext cx="148590" cy="1485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4398264" y="2039112"/>
            <a:ext cx="0" cy="2286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358258" y="1999106"/>
            <a:ext cx="80010" cy="800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 flipV="1">
            <a:off x="4398264" y="2187702"/>
            <a:ext cx="217169" cy="8001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575428" y="2147697"/>
            <a:ext cx="80010" cy="800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4398264" y="2267712"/>
            <a:ext cx="137160" cy="19431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495419" y="2422016"/>
            <a:ext cx="80010" cy="800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H="1">
            <a:off x="4261103" y="2267712"/>
            <a:ext cx="137161" cy="19431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221098" y="2422016"/>
            <a:ext cx="80010" cy="800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4181094" y="2187702"/>
            <a:ext cx="217170" cy="8001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141088" y="2147697"/>
            <a:ext cx="80010" cy="800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288036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DocuMakerAI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547872"/>
            <a:ext cx="1847088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C7D7EE"/>
                </a:solidFill>
                <a:latin typeface="Aptos"/>
              </a:rPr>
              <a:t>Consolidates the source material and populates the approved PDD structure.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1572768"/>
            <a:ext cx="2304288" cy="3017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47103" y="1856232"/>
            <a:ext cx="822959" cy="822959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78573" y="2073402"/>
            <a:ext cx="160020" cy="160020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rc 39"/>
          <p:cNvSpPr/>
          <p:nvPr/>
        </p:nvSpPr>
        <p:spPr>
          <a:xfrm>
            <a:off x="6752844" y="2221992"/>
            <a:ext cx="411479" cy="320040"/>
          </a:xfrm>
          <a:prstGeom prst="arc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288036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235B"/>
                </a:solidFill>
                <a:latin typeface="Aptos"/>
              </a:rPr>
              <a:t>BA review &amp; refinement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547872"/>
            <a:ext cx="1847088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64748B"/>
                </a:solidFill>
                <a:latin typeface="Aptos"/>
              </a:rPr>
              <a:t>The BA corrects, challenges and iteratively completes the document.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60" y="1572768"/>
            <a:ext cx="2304288" cy="3017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07424" y="1856232"/>
            <a:ext cx="822959" cy="822959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33154" y="2050542"/>
            <a:ext cx="571500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2F6DB2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288036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235B"/>
                </a:solidFill>
                <a:latin typeface="Aptos"/>
              </a:rPr>
              <a:t>Approved PDD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547872"/>
            <a:ext cx="1847088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64748B"/>
                </a:solidFill>
                <a:latin typeface="Aptos"/>
              </a:rPr>
              <a:t>Validated process knowledge is ready for architecture, development and testing.</a:t>
            </a:r>
          </a:p>
        </p:txBody>
      </p:sp>
      <p:sp>
        <p:nvSpPr>
          <p:cNvPr id="48" name="Chevron 47"/>
          <p:cNvSpPr/>
          <p:nvPr/>
        </p:nvSpPr>
        <p:spPr>
          <a:xfrm>
            <a:off x="3017520" y="2788920"/>
            <a:ext cx="274320" cy="438912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hevron 48"/>
          <p:cNvSpPr/>
          <p:nvPr/>
        </p:nvSpPr>
        <p:spPr>
          <a:xfrm>
            <a:off x="5577840" y="2788920"/>
            <a:ext cx="274320" cy="438912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hevron 49"/>
          <p:cNvSpPr/>
          <p:nvPr/>
        </p:nvSpPr>
        <p:spPr>
          <a:xfrm>
            <a:off x="8138160" y="2788920"/>
            <a:ext cx="274320" cy="438912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13232" y="4956048"/>
            <a:ext cx="2542032" cy="932688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7824" y="512064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 i="0">
                <a:solidFill>
                  <a:srgbClr val="14235B"/>
                </a:solidFill>
                <a:latin typeface="Aptos"/>
              </a:rPr>
              <a:t>Less manual effort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" y="5422392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 i="0">
                <a:solidFill>
                  <a:srgbClr val="64748B"/>
                </a:solidFill>
                <a:latin typeface="Aptos"/>
              </a:rPr>
              <a:t>Reduced time spent compiling and formatting the first draft.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02152" y="4956048"/>
            <a:ext cx="2542032" cy="932688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66744" y="512064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 i="0">
                <a:solidFill>
                  <a:srgbClr val="14235B"/>
                </a:solidFill>
                <a:latin typeface="Aptos"/>
              </a:rPr>
              <a:t>Consistent structure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66744" y="5422392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 i="0">
                <a:solidFill>
                  <a:srgbClr val="64748B"/>
                </a:solidFill>
                <a:latin typeface="Aptos"/>
              </a:rPr>
              <a:t>The approved PDD template is applied from the beginning.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91072" y="4956048"/>
            <a:ext cx="2542032" cy="932688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55664" y="512064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 i="0">
                <a:solidFill>
                  <a:srgbClr val="14235B"/>
                </a:solidFill>
                <a:latin typeface="Aptos"/>
              </a:rPr>
              <a:t>Earlier gap detection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55664" y="5422392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 i="0">
                <a:solidFill>
                  <a:srgbClr val="64748B"/>
                </a:solidFill>
                <a:latin typeface="Aptos"/>
              </a:rPr>
              <a:t>Missing or unclear information is easier to identify.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79991" y="4956048"/>
            <a:ext cx="2542032" cy="932688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44583" y="512064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 i="0">
                <a:solidFill>
                  <a:srgbClr val="14235B"/>
                </a:solidFill>
                <a:latin typeface="Aptos"/>
              </a:rPr>
              <a:t>Faster handover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44583" y="5422392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 i="0">
                <a:solidFill>
                  <a:srgbClr val="64748B"/>
                </a:solidFill>
                <a:latin typeface="Aptos"/>
              </a:rPr>
              <a:t>Architecture and development receive structured information sooner.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10896"/>
            <a:ext cx="10927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4235B"/>
                </a:solidFill>
                <a:latin typeface="Aptos Display"/>
              </a:rPr>
              <a:t>Citrifix AI — VDI Support Assistance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13816"/>
            <a:ext cx="658368" cy="36576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9888" y="676656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i="0">
                <a:solidFill>
                  <a:srgbClr val="64748B"/>
                </a:solidFill>
                <a:latin typeface="Aptos"/>
              </a:rPr>
              <a:t>Citrifix AI provides first-line guidance for recurring technical issues encountered when accessing or using client VDIs.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1143000"/>
            <a:ext cx="1874519" cy="256032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114300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 i="0">
                <a:solidFill>
                  <a:srgbClr val="254C80"/>
                </a:solidFill>
                <a:latin typeface="Aptos"/>
              </a:rPr>
              <a:t>CLIENT DEMONSTRATION 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08760"/>
            <a:ext cx="2331720" cy="4251960"/>
          </a:xfrm>
          <a:prstGeom prst="roundRect">
            <a:avLst/>
          </a:prstGeom>
          <a:solidFill>
            <a:srgbClr val="F3F7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30121" y="1704441"/>
            <a:ext cx="888796" cy="8887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27631" y="1951329"/>
            <a:ext cx="382676" cy="2715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88109" y="2235250"/>
            <a:ext cx="61722" cy="111099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26387" y="2334006"/>
            <a:ext cx="197510" cy="30861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23897" y="1864918"/>
            <a:ext cx="246888" cy="1851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3897" y="1858746"/>
            <a:ext cx="246888" cy="1851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47" b="1" i="0">
                <a:solidFill>
                  <a:srgbClr val="2F6DB2"/>
                </a:solidFill>
                <a:latin typeface="Aptos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816352"/>
            <a:ext cx="190195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235B"/>
                </a:solidFill>
                <a:latin typeface="Aptos"/>
              </a:rPr>
              <a:t>Typical support request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566160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493008"/>
            <a:ext cx="1682496" cy="281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E2A3A"/>
                </a:solidFill>
                <a:latin typeface="Aptos"/>
              </a:rPr>
              <a:t>VDI access or login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920489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847337"/>
            <a:ext cx="1682496" cy="281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E2A3A"/>
                </a:solidFill>
                <a:latin typeface="Aptos"/>
              </a:rPr>
              <a:t>Session or configuration issues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274820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4201668"/>
            <a:ext cx="1682496" cy="281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E2A3A"/>
                </a:solidFill>
                <a:latin typeface="Aptos"/>
              </a:rPr>
              <a:t>Client tools and connectivity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629150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555998"/>
            <a:ext cx="1682496" cy="281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E2A3A"/>
                </a:solidFill>
                <a:latin typeface="Aptos"/>
              </a:rPr>
              <a:t>Recurring environment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5721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 i="0">
                <a:solidFill>
                  <a:srgbClr val="64748B"/>
                </a:solidFill>
                <a:latin typeface="Aptos"/>
              </a:rPr>
              <a:t>Guidance may be distributed across documents, incidents and individual knowledge.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1664208"/>
            <a:ext cx="1673352" cy="3310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009644" y="1920239"/>
            <a:ext cx="512064" cy="51206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14215" y="19933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F6DB2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2660904"/>
            <a:ext cx="134416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Describe the issue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355848"/>
            <a:ext cx="1307592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0" i="0">
                <a:solidFill>
                  <a:srgbClr val="64748B"/>
                </a:solidFill>
                <a:latin typeface="Aptos"/>
              </a:rPr>
              <a:t>The user explains the problem in plain language.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68112" y="1664208"/>
            <a:ext cx="1673352" cy="3310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48756" y="1920239"/>
            <a:ext cx="512064" cy="51206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53328" y="19933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F6DB2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32704" y="2660904"/>
            <a:ext cx="134416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Guided diagnosis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3355848"/>
            <a:ext cx="1307592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0" i="0">
                <a:solidFill>
                  <a:srgbClr val="64748B"/>
                </a:solidFill>
                <a:latin typeface="Aptos"/>
              </a:rPr>
              <a:t>The agent asks relevant questions and gathers context.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224" y="1664208"/>
            <a:ext cx="1673352" cy="3310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87868" y="1920239"/>
            <a:ext cx="512064" cy="51206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92440" y="19933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F6DB2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816" y="2660904"/>
            <a:ext cx="134416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Approved knowledge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0104" y="3355848"/>
            <a:ext cx="1307592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0" i="0">
                <a:solidFill>
                  <a:srgbClr val="64748B"/>
                </a:solidFill>
                <a:latin typeface="Aptos"/>
              </a:rPr>
              <a:t>Relevant support guidance and known resolutions are retrieved.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46336" y="1664208"/>
            <a:ext cx="1673352" cy="3310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126980" y="1920239"/>
            <a:ext cx="512064" cy="51206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31552" y="19933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F6DB2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2660904"/>
            <a:ext cx="134416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35B"/>
                </a:solidFill>
                <a:latin typeface="Aptos"/>
              </a:rPr>
              <a:t>Resolve or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9215" y="3355848"/>
            <a:ext cx="1307592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0" i="0">
                <a:solidFill>
                  <a:srgbClr val="64748B"/>
                </a:solidFill>
                <a:latin typeface="Aptos"/>
              </a:rPr>
              <a:t>The user receives steps to follow or a structured escalation.</a:t>
            </a:r>
          </a:p>
        </p:txBody>
      </p:sp>
      <p:sp>
        <p:nvSpPr>
          <p:cNvPr id="44" name="Chevron 43"/>
          <p:cNvSpPr/>
          <p:nvPr/>
        </p:nvSpPr>
        <p:spPr>
          <a:xfrm>
            <a:off x="5184648" y="2852928"/>
            <a:ext cx="228600" cy="384048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hevron 44"/>
          <p:cNvSpPr/>
          <p:nvPr/>
        </p:nvSpPr>
        <p:spPr>
          <a:xfrm>
            <a:off x="7223760" y="2852928"/>
            <a:ext cx="228600" cy="384048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hevron 45"/>
          <p:cNvSpPr/>
          <p:nvPr/>
        </p:nvSpPr>
        <p:spPr>
          <a:xfrm>
            <a:off x="9262872" y="2852928"/>
            <a:ext cx="228600" cy="384048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502152" y="5230368"/>
            <a:ext cx="1737360" cy="420624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75304" y="528523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14235B"/>
                </a:solidFill>
                <a:latin typeface="Aptos"/>
              </a:rPr>
              <a:t>Faster guidance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95544" y="5230368"/>
            <a:ext cx="1737360" cy="420624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568696" y="528523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14235B"/>
                </a:solidFill>
                <a:latin typeface="Aptos"/>
              </a:rPr>
              <a:t>Consistent diagnosis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88936" y="5230368"/>
            <a:ext cx="1737360" cy="420624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62088" y="528523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14235B"/>
                </a:solidFill>
                <a:latin typeface="Aptos"/>
              </a:rPr>
              <a:t>Less repetition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82328" y="5230368"/>
            <a:ext cx="1737360" cy="420624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55480" y="528523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14235B"/>
                </a:solidFill>
                <a:latin typeface="Aptos"/>
              </a:rPr>
              <a:t>Better escalation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925312"/>
            <a:ext cx="10680192" cy="310896"/>
          </a:xfrm>
          <a:prstGeom prst="roundRect">
            <a:avLst/>
          </a:prstGeom>
          <a:solidFill>
            <a:srgbClr val="14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943600"/>
            <a:ext cx="10277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90" b="1" i="0">
                <a:solidFill>
                  <a:srgbClr val="FFFFFF"/>
                </a:solidFill>
                <a:latin typeface="Aptos"/>
              </a:rPr>
              <a:t>Initial scope: advisory support only. The agent does not make uncontrolled changes to client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10896"/>
            <a:ext cx="10927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solidFill>
                  <a:srgbClr val="14235B"/>
                </a:solidFill>
                <a:latin typeface="Aptos Display"/>
              </a:rPr>
              <a:t>Governance and Technical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13816"/>
            <a:ext cx="658368" cy="36576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9888" y="676656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i="0">
                <a:solidFill>
                  <a:srgbClr val="64748B"/>
                </a:solidFill>
                <a:latin typeface="Aptos"/>
              </a:rPr>
              <a:t>Agentic capabilities will be introduced within the same standards and controls that govern the wider automation programme.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16736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4235B"/>
                </a:solidFill>
                <a:latin typeface="Aptos"/>
              </a:rPr>
              <a:t>How the capabilities are grounded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719072"/>
            <a:ext cx="6172200" cy="841248"/>
          </a:xfrm>
          <a:prstGeom prst="roundRect">
            <a:avLst/>
          </a:prstGeom>
          <a:solidFill>
            <a:srgbClr val="14235B"/>
          </a:solidFill>
          <a:ln w="10160">
            <a:solidFill>
              <a:srgbClr val="142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84708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10" b="1" i="0">
                <a:solidFill>
                  <a:srgbClr val="FFFFFF"/>
                </a:solidFill>
                <a:latin typeface="Aptos"/>
              </a:rPr>
              <a:t>Agentic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10512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69" b="0" i="0">
                <a:solidFill>
                  <a:srgbClr val="FFFFFF"/>
                </a:solidFill>
                <a:latin typeface="Aptos"/>
              </a:rPr>
              <a:t>DocuMakerAI  •  Development assistance  •  Citrifix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788920"/>
            <a:ext cx="6172200" cy="841248"/>
          </a:xfrm>
          <a:prstGeom prst="roundRect">
            <a:avLst/>
          </a:prstGeom>
          <a:solidFill>
            <a:srgbClr val="D8E6F6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91693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10" b="1" i="0">
                <a:solidFill>
                  <a:srgbClr val="14235B"/>
                </a:solidFill>
                <a:latin typeface="Aptos"/>
              </a:rPr>
              <a:t>Approved knowledge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880360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PDDs  •  SOPs  •  Repositories  •  Framework documentation  •  Support runbooks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858768"/>
            <a:ext cx="6172200" cy="841248"/>
          </a:xfrm>
          <a:prstGeom prst="roundRect">
            <a:avLst/>
          </a:prstGeom>
          <a:solidFill>
            <a:srgbClr val="F3F7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986783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10" b="1" i="0">
                <a:solidFill>
                  <a:srgbClr val="14235B"/>
                </a:solidFill>
                <a:latin typeface="Aptos"/>
              </a:rPr>
              <a:t>Engineering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950207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GitHub  •  Common frameworks  •  Reusable libraries  •  API integrations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47872" y="2578608"/>
            <a:ext cx="475488" cy="237744"/>
          </a:xfrm>
          <a:prstGeom prst="downArrow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3547872" y="3648456"/>
            <a:ext cx="475488" cy="237744"/>
          </a:xfrm>
          <a:prstGeom prst="downArrow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33488" y="13167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4235B"/>
                </a:solidFill>
                <a:latin typeface="Aptos"/>
              </a:rPr>
              <a:t>Controls applied to every use case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719072"/>
            <a:ext cx="3977639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62235" y="1811243"/>
            <a:ext cx="474024" cy="47402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entagon 19"/>
          <p:cNvSpPr/>
          <p:nvPr/>
        </p:nvSpPr>
        <p:spPr>
          <a:xfrm>
            <a:off x="7600492" y="1929749"/>
            <a:ext cx="197510" cy="223845"/>
          </a:xfrm>
          <a:prstGeom prst="homePlate">
            <a:avLst/>
          </a:prstGeom>
          <a:solidFill>
            <a:srgbClr val="FFFFFF"/>
          </a:solidFill>
          <a:ln w="1397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13660" y="1969251"/>
            <a:ext cx="171175" cy="14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19" b="1" i="0">
                <a:solidFill>
                  <a:srgbClr val="2F6DB2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181051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4235B"/>
                </a:solidFill>
                <a:latin typeface="Aptos"/>
              </a:rPr>
              <a:t>Approved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792224"/>
            <a:ext cx="176479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0" b="0" i="0">
                <a:solidFill>
                  <a:srgbClr val="64748B"/>
                </a:solidFill>
                <a:latin typeface="Aptos"/>
              </a:rPr>
              <a:t>Only authorised and maintained information is used.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523744"/>
            <a:ext cx="3977639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62235" y="2615915"/>
            <a:ext cx="474024" cy="47402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entagon 25"/>
          <p:cNvSpPr/>
          <p:nvPr/>
        </p:nvSpPr>
        <p:spPr>
          <a:xfrm>
            <a:off x="7600492" y="2734421"/>
            <a:ext cx="197510" cy="223845"/>
          </a:xfrm>
          <a:prstGeom prst="homePlate">
            <a:avLst/>
          </a:prstGeom>
          <a:solidFill>
            <a:srgbClr val="FFFFFF"/>
          </a:solidFill>
          <a:ln w="1397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13660" y="2773923"/>
            <a:ext cx="171175" cy="14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19" b="1" i="0">
                <a:solidFill>
                  <a:srgbClr val="2F6DB2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61518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4235B"/>
                </a:solidFill>
                <a:latin typeface="Aptos"/>
              </a:rPr>
              <a:t>Role-based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596896"/>
            <a:ext cx="176479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0" b="0" i="0">
                <a:solidFill>
                  <a:srgbClr val="64748B"/>
                </a:solidFill>
                <a:latin typeface="Aptos"/>
              </a:rPr>
              <a:t>Users and agents access only what is appropriate to their role.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328415"/>
            <a:ext cx="3977639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462235" y="3420587"/>
            <a:ext cx="474024" cy="47402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entagon 31"/>
          <p:cNvSpPr/>
          <p:nvPr/>
        </p:nvSpPr>
        <p:spPr>
          <a:xfrm>
            <a:off x="7600492" y="3539093"/>
            <a:ext cx="197510" cy="223845"/>
          </a:xfrm>
          <a:prstGeom prst="homePlate">
            <a:avLst/>
          </a:prstGeom>
          <a:solidFill>
            <a:srgbClr val="FFFFFF"/>
          </a:solidFill>
          <a:ln w="1397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13660" y="3578595"/>
            <a:ext cx="171175" cy="14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19" b="1" i="0">
                <a:solidFill>
                  <a:srgbClr val="2F6DB2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341985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4235B"/>
                </a:solidFill>
                <a:latin typeface="Aptos"/>
              </a:rPr>
              <a:t>Human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401568"/>
            <a:ext cx="176479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0" b="0" i="0">
                <a:solidFill>
                  <a:srgbClr val="64748B"/>
                </a:solidFill>
                <a:latin typeface="Aptos"/>
              </a:rPr>
              <a:t>Important outputs are reviewed before they become authoritative.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4133087"/>
            <a:ext cx="3977639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462235" y="4225259"/>
            <a:ext cx="474024" cy="47402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entagon 37"/>
          <p:cNvSpPr/>
          <p:nvPr/>
        </p:nvSpPr>
        <p:spPr>
          <a:xfrm>
            <a:off x="7600492" y="4343765"/>
            <a:ext cx="197510" cy="223845"/>
          </a:xfrm>
          <a:prstGeom prst="homePlate">
            <a:avLst/>
          </a:prstGeom>
          <a:solidFill>
            <a:srgbClr val="FFFFFF"/>
          </a:solidFill>
          <a:ln w="1397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13660" y="4383267"/>
            <a:ext cx="171175" cy="14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19" b="1" i="0">
                <a:solidFill>
                  <a:srgbClr val="2F6DB2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4224527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4235B"/>
                </a:solidFill>
                <a:latin typeface="Aptos"/>
              </a:rPr>
              <a:t>Traceability &amp; 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206240"/>
            <a:ext cx="176479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0" b="0" i="0">
                <a:solidFill>
                  <a:srgbClr val="64748B"/>
                </a:solidFill>
                <a:latin typeface="Aptos"/>
              </a:rPr>
              <a:t>Inputs, outputs, sources and decisions can be reviewed.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937760"/>
            <a:ext cx="3977639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462235" y="5029931"/>
            <a:ext cx="474024" cy="474024"/>
          </a:xfrm>
          <a:prstGeom prst="ellipse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entagon 43"/>
          <p:cNvSpPr/>
          <p:nvPr/>
        </p:nvSpPr>
        <p:spPr>
          <a:xfrm>
            <a:off x="7600492" y="5148437"/>
            <a:ext cx="197510" cy="223845"/>
          </a:xfrm>
          <a:prstGeom prst="homePlate">
            <a:avLst/>
          </a:prstGeom>
          <a:solidFill>
            <a:srgbClr val="FFFFFF"/>
          </a:solidFill>
          <a:ln w="13970">
            <a:solidFill>
              <a:srgbClr val="2F6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13660" y="5187939"/>
            <a:ext cx="171175" cy="14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19" b="1" i="0">
                <a:solidFill>
                  <a:srgbClr val="2F6DB2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502920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4235B"/>
                </a:solidFill>
                <a:latin typeface="Aptos"/>
              </a:rPr>
              <a:t>Controlled 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5010912"/>
            <a:ext cx="176479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0" b="0" i="0">
                <a:solidFill>
                  <a:srgbClr val="64748B"/>
                </a:solidFill>
                <a:latin typeface="Aptos"/>
              </a:rPr>
              <a:t>No direct production change without explicit approval.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833872"/>
            <a:ext cx="10442448" cy="347472"/>
          </a:xfrm>
          <a:prstGeom prst="roundRect">
            <a:avLst/>
          </a:prstGeom>
          <a:solidFill>
            <a:srgbClr val="14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97280" y="5870448"/>
            <a:ext cx="99852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The same controls that standardise human delivery will also define how agentic capabilities are introduced and governed.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10896"/>
            <a:ext cx="10927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solidFill>
                  <a:srgbClr val="14235B"/>
                </a:solidFill>
                <a:latin typeface="Aptos Display"/>
              </a:rPr>
              <a:t>2027 Adoption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13816"/>
            <a:ext cx="658368" cy="36576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9888" y="676656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i="0">
                <a:solidFill>
                  <a:srgbClr val="64748B"/>
                </a:solidFill>
                <a:latin typeface="Aptos"/>
              </a:rPr>
              <a:t>The objective is to move from demonstrations to controlled pilots and expand only where measurable value is confirmed.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444752"/>
            <a:ext cx="2834640" cy="3474720"/>
          </a:xfrm>
          <a:prstGeom prst="roundRect">
            <a:avLst/>
          </a:prstGeom>
          <a:solidFill>
            <a:srgbClr val="F3F7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" y="1709928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2F6DB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02996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4235B"/>
                </a:solidFill>
                <a:latin typeface="Aptos Display"/>
              </a:rPr>
              <a:t>Validate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" y="2596896"/>
            <a:ext cx="713232" cy="3200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42416" y="3054096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296" y="29809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Confirm priority use cases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6" y="3447288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33741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Complete security and access reviews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6" y="3840480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5296" y="37673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Agree approved knowledge sources</a:t>
            </a:r>
          </a:p>
        </p:txBody>
      </p:sp>
      <p:sp>
        <p:nvSpPr>
          <p:cNvPr id="15" name="Oval 14"/>
          <p:cNvSpPr/>
          <p:nvPr/>
        </p:nvSpPr>
        <p:spPr>
          <a:xfrm>
            <a:off x="1042416" y="4233672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5296" y="4160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Establish baseline measures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1444752"/>
            <a:ext cx="2834640" cy="3474720"/>
          </a:xfrm>
          <a:prstGeom prst="roundRect">
            <a:avLst/>
          </a:prstGeom>
          <a:solidFill>
            <a:srgbClr val="E4EDF8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709928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2F6DB2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02996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4235B"/>
                </a:solidFill>
                <a:latin typeface="Aptos Display"/>
              </a:rPr>
              <a:t>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596896"/>
            <a:ext cx="713232" cy="3200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43400" y="3054096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9809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Select limited user groups</a:t>
            </a:r>
          </a:p>
        </p:txBody>
      </p:sp>
      <p:sp>
        <p:nvSpPr>
          <p:cNvPr id="23" name="Oval 22"/>
          <p:cNvSpPr/>
          <p:nvPr/>
        </p:nvSpPr>
        <p:spPr>
          <a:xfrm>
            <a:off x="4343400" y="3447288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33741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Operate in a controlled scope</a:t>
            </a:r>
          </a:p>
        </p:txBody>
      </p:sp>
      <p:sp>
        <p:nvSpPr>
          <p:cNvPr id="25" name="Oval 24"/>
          <p:cNvSpPr/>
          <p:nvPr/>
        </p:nvSpPr>
        <p:spPr>
          <a:xfrm>
            <a:off x="4343400" y="3840480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7673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Compare agent-assisted and current processes</a:t>
            </a:r>
          </a:p>
        </p:txBody>
      </p:sp>
      <p:sp>
        <p:nvSpPr>
          <p:cNvPr id="27" name="Oval 26"/>
          <p:cNvSpPr/>
          <p:nvPr/>
        </p:nvSpPr>
        <p:spPr>
          <a:xfrm>
            <a:off x="4343400" y="4233672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4160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Capture quality, failures and user feedback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88352" y="1444752"/>
            <a:ext cx="2834640" cy="3474720"/>
          </a:xfrm>
          <a:prstGeom prst="roundRect">
            <a:avLst/>
          </a:prstGeom>
          <a:solidFill>
            <a:srgbClr val="D6E5F5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44383" y="1709928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2F6DB2"/>
                </a:solidFill>
                <a:latin typeface="Apto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4383" y="202996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4235B"/>
                </a:solidFill>
                <a:latin typeface="Aptos Display"/>
              </a:rPr>
              <a:t>Scale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44383" y="2596896"/>
            <a:ext cx="713232" cy="32004"/>
          </a:xfrm>
          <a:prstGeom prst="rect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644383" y="3054096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27263" y="29809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Productionise successful use cases</a:t>
            </a:r>
          </a:p>
        </p:txBody>
      </p:sp>
      <p:sp>
        <p:nvSpPr>
          <p:cNvPr id="35" name="Oval 34"/>
          <p:cNvSpPr/>
          <p:nvPr/>
        </p:nvSpPr>
        <p:spPr>
          <a:xfrm>
            <a:off x="7644383" y="3447288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27263" y="33741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Assign ownership and monitoring</a:t>
            </a:r>
          </a:p>
        </p:txBody>
      </p:sp>
      <p:sp>
        <p:nvSpPr>
          <p:cNvPr id="37" name="Oval 36"/>
          <p:cNvSpPr/>
          <p:nvPr/>
        </p:nvSpPr>
        <p:spPr>
          <a:xfrm>
            <a:off x="7644383" y="3840480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27263" y="37673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Expand approved knowledge progressively</a:t>
            </a:r>
          </a:p>
        </p:txBody>
      </p:sp>
      <p:sp>
        <p:nvSpPr>
          <p:cNvPr id="39" name="Oval 38"/>
          <p:cNvSpPr/>
          <p:nvPr/>
        </p:nvSpPr>
        <p:spPr>
          <a:xfrm>
            <a:off x="7644383" y="4233672"/>
            <a:ext cx="73152" cy="73152"/>
          </a:xfrm>
          <a:prstGeom prst="ellipse">
            <a:avLst/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27263" y="4160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E2A3A"/>
                </a:solidFill>
                <a:latin typeface="Aptos"/>
              </a:rPr>
              <a:t>Introduce further use cases where justified</a:t>
            </a:r>
          </a:p>
        </p:txBody>
      </p:sp>
      <p:sp>
        <p:nvSpPr>
          <p:cNvPr id="41" name="Chevron 40"/>
          <p:cNvSpPr/>
          <p:nvPr/>
        </p:nvSpPr>
        <p:spPr>
          <a:xfrm>
            <a:off x="3794760" y="2889504"/>
            <a:ext cx="228600" cy="438912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hevron 41"/>
          <p:cNvSpPr/>
          <p:nvPr/>
        </p:nvSpPr>
        <p:spPr>
          <a:xfrm>
            <a:off x="7095744" y="2889504"/>
            <a:ext cx="228600" cy="438912"/>
          </a:xfrm>
          <a:prstGeom prst="chevron">
            <a:avLst/>
          </a:prstGeom>
          <a:solidFill>
            <a:srgbClr val="8F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2303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 i="0">
                <a:solidFill>
                  <a:srgbClr val="14235B"/>
                </a:solidFill>
                <a:latin typeface="Aptos"/>
              </a:rPr>
              <a:t>Initial measures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559552"/>
            <a:ext cx="1664208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6112" y="55961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54C80"/>
                </a:solidFill>
                <a:latin typeface="Aptos"/>
              </a:rPr>
              <a:t>PDD preparation 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0048" y="5559552"/>
            <a:ext cx="1664208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0" y="55961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54C80"/>
                </a:solidFill>
                <a:latin typeface="Aptos"/>
              </a:rPr>
              <a:t>First-review acceptance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17136" y="5559552"/>
            <a:ext cx="1664208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90288" y="55961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54C80"/>
                </a:solidFill>
                <a:latin typeface="Aptos"/>
              </a:rPr>
              <a:t>Clarification cycles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559552"/>
            <a:ext cx="1664208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37376" y="55961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54C80"/>
                </a:solidFill>
                <a:latin typeface="Aptos"/>
              </a:rPr>
              <a:t>VDI issue resolution 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11312" y="5559552"/>
            <a:ext cx="1664208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84464" y="55961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54C80"/>
                </a:solidFill>
                <a:latin typeface="Aptos"/>
              </a:rPr>
              <a:t>Escalation rate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0" y="5559552"/>
            <a:ext cx="1664208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31552" y="55961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54C80"/>
                </a:solidFill>
                <a:latin typeface="Aptos"/>
              </a:rPr>
              <a:t>User adoption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6126480"/>
            <a:ext cx="10442448" cy="292608"/>
          </a:xfrm>
          <a:prstGeom prst="roundRect">
            <a:avLst/>
          </a:prstGeom>
          <a:solidFill>
            <a:srgbClr val="14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1560" y="6144768"/>
            <a:ext cx="99852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Expansion will follow completed approvals and demonstrated benefit.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732</Words>
  <Application>Microsoft Office PowerPoint</Application>
  <PresentationFormat>Widescreen</PresentationFormat>
  <Paragraphs>141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Program Update — September 2026</dc:title>
  <dc:subject>Progress since January 2026 and priorities for the next phase</dc:subject>
  <dc:creator/>
  <cp:lastModifiedBy>Admin</cp:lastModifiedBy>
  <cp:revision>3</cp:revision>
  <dcterms:created xsi:type="dcterms:W3CDTF">2026-08-13T09:08:57Z</dcterms:created>
  <dcterms:modified xsi:type="dcterms:W3CDTF">2026-09-04T15:54:21Z</dcterms:modified>
</cp:coreProperties>
</file>